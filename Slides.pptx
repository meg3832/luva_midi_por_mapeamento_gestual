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ormorant Garamond Bold" charset="1" panose="00000800000000000000"/>
      <p:regular r:id="rId22"/>
    </p:embeddedFont>
    <p:embeddedFont>
      <p:font typeface="Crimson Pro" charset="1" panose="00000000000000000000"/>
      <p:regular r:id="rId23"/>
    </p:embeddedFont>
    <p:embeddedFont>
      <p:font typeface="Crimson Pro Bold" charset="1" panose="00000000000000000000"/>
      <p:regular r:id="rId24"/>
    </p:embeddedFont>
    <p:embeddedFont>
      <p:font typeface="Crimson Pro Italics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jpeg" Type="http://schemas.openxmlformats.org/officeDocument/2006/relationships/image"/><Relationship Id="rId13" Target="../media/image12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5.png" Type="http://schemas.openxmlformats.org/officeDocument/2006/relationships/image"/><Relationship Id="rId13" Target="../media/image16.jpeg" Type="http://schemas.openxmlformats.org/officeDocument/2006/relationships/image"/><Relationship Id="rId14" Target="../media/image17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14" Target="../media/image20.png" Type="http://schemas.openxmlformats.org/officeDocument/2006/relationships/image"/><Relationship Id="rId15" Target="../media/image21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14" Target="../media/image2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8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3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31.png" Type="http://schemas.openxmlformats.org/officeDocument/2006/relationships/image"/><Relationship Id="rId13" Target="../media/image3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3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5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36145">
            <a:off x="10257419" y="7741760"/>
            <a:ext cx="9301406" cy="4293331"/>
          </a:xfrm>
          <a:custGeom>
            <a:avLst/>
            <a:gdLst/>
            <a:ahLst/>
            <a:cxnLst/>
            <a:rect r="r" b="b" t="t" l="l"/>
            <a:pathLst>
              <a:path h="4293331" w="9301406">
                <a:moveTo>
                  <a:pt x="0" y="0"/>
                </a:moveTo>
                <a:lnTo>
                  <a:pt x="9301406" y="0"/>
                </a:lnTo>
                <a:lnTo>
                  <a:pt x="9301406" y="4293331"/>
                </a:lnTo>
                <a:lnTo>
                  <a:pt x="0" y="429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28592" y="5143500"/>
            <a:ext cx="8326598" cy="6035110"/>
          </a:xfrm>
          <a:custGeom>
            <a:avLst/>
            <a:gdLst/>
            <a:ahLst/>
            <a:cxnLst/>
            <a:rect r="r" b="b" t="t" l="l"/>
            <a:pathLst>
              <a:path h="6035110" w="8326598">
                <a:moveTo>
                  <a:pt x="0" y="0"/>
                </a:moveTo>
                <a:lnTo>
                  <a:pt x="8326597" y="0"/>
                </a:lnTo>
                <a:lnTo>
                  <a:pt x="8326597" y="6035110"/>
                </a:lnTo>
                <a:lnTo>
                  <a:pt x="0" y="603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41887" y="-2615269"/>
            <a:ext cx="4450404" cy="4114800"/>
          </a:xfrm>
          <a:custGeom>
            <a:avLst/>
            <a:gdLst/>
            <a:ahLst/>
            <a:cxnLst/>
            <a:rect r="r" b="b" t="t" l="l"/>
            <a:pathLst>
              <a:path h="4114800" w="4450404">
                <a:moveTo>
                  <a:pt x="0" y="0"/>
                </a:moveTo>
                <a:lnTo>
                  <a:pt x="4450404" y="0"/>
                </a:lnTo>
                <a:lnTo>
                  <a:pt x="4450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9067" y="-2615269"/>
            <a:ext cx="6461098" cy="5073573"/>
          </a:xfrm>
          <a:custGeom>
            <a:avLst/>
            <a:gdLst/>
            <a:ahLst/>
            <a:cxnLst/>
            <a:rect r="r" b="b" t="t" l="l"/>
            <a:pathLst>
              <a:path h="5073573" w="6461098">
                <a:moveTo>
                  <a:pt x="0" y="0"/>
                </a:moveTo>
                <a:lnTo>
                  <a:pt x="6461097" y="0"/>
                </a:lnTo>
                <a:lnTo>
                  <a:pt x="6461097" y="5073573"/>
                </a:lnTo>
                <a:lnTo>
                  <a:pt x="0" y="5073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183411">
            <a:off x="14397759" y="-2070745"/>
            <a:ext cx="6039280" cy="5129798"/>
          </a:xfrm>
          <a:custGeom>
            <a:avLst/>
            <a:gdLst/>
            <a:ahLst/>
            <a:cxnLst/>
            <a:rect r="r" b="b" t="t" l="l"/>
            <a:pathLst>
              <a:path h="5129798" w="6039280">
                <a:moveTo>
                  <a:pt x="0" y="0"/>
                </a:moveTo>
                <a:lnTo>
                  <a:pt x="6039280" y="0"/>
                </a:lnTo>
                <a:lnTo>
                  <a:pt x="6039280" y="5129798"/>
                </a:lnTo>
                <a:lnTo>
                  <a:pt x="0" y="51297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30511" y="2734529"/>
            <a:ext cx="14411392" cy="2762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9"/>
              </a:lnSpc>
            </a:pPr>
            <a:r>
              <a:rPr lang="en-US" b="true" sz="11244">
                <a:solidFill>
                  <a:srgbClr val="76473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OFICINA DE INTEGRAÇÃO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76616" y="7866551"/>
            <a:ext cx="7534769" cy="95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5"/>
              </a:lnSpc>
            </a:pPr>
            <a:r>
              <a:rPr lang="en-US" sz="38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Maria Eduarda de Gracia</a:t>
            </a:r>
          </a:p>
          <a:p>
            <a:pPr algn="ctr">
              <a:lnSpc>
                <a:spcPts val="3665"/>
              </a:lnSpc>
            </a:pPr>
            <a:r>
              <a:rPr lang="en-US" sz="38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Rachel Paulino Previtali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52814" y="4193502"/>
            <a:ext cx="9738538" cy="280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59"/>
              </a:lnSpc>
            </a:pPr>
            <a:r>
              <a:rPr lang="en-US" b="true" sz="22084">
                <a:solidFill>
                  <a:srgbClr val="76473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¹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76616" y="7280574"/>
            <a:ext cx="7534769" cy="50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5"/>
              </a:lnSpc>
            </a:pPr>
            <a:r>
              <a:rPr lang="en-US" sz="3899" b="true">
                <a:solidFill>
                  <a:srgbClr val="76473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Integrantes: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13453" y="5506722"/>
            <a:ext cx="8949896" cy="672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Luva MIDI por Mapeamento Gestual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16303" y="8862265"/>
            <a:ext cx="901096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sz="8000" b="true">
                <a:solidFill>
                  <a:srgbClr val="76473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36145">
            <a:off x="10257419" y="7741760"/>
            <a:ext cx="9301406" cy="4293331"/>
          </a:xfrm>
          <a:custGeom>
            <a:avLst/>
            <a:gdLst/>
            <a:ahLst/>
            <a:cxnLst/>
            <a:rect r="r" b="b" t="t" l="l"/>
            <a:pathLst>
              <a:path h="4293331" w="9301406">
                <a:moveTo>
                  <a:pt x="0" y="0"/>
                </a:moveTo>
                <a:lnTo>
                  <a:pt x="9301406" y="0"/>
                </a:lnTo>
                <a:lnTo>
                  <a:pt x="9301406" y="4293331"/>
                </a:lnTo>
                <a:lnTo>
                  <a:pt x="0" y="429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28592" y="5143500"/>
            <a:ext cx="8326598" cy="6035110"/>
          </a:xfrm>
          <a:custGeom>
            <a:avLst/>
            <a:gdLst/>
            <a:ahLst/>
            <a:cxnLst/>
            <a:rect r="r" b="b" t="t" l="l"/>
            <a:pathLst>
              <a:path h="6035110" w="8326598">
                <a:moveTo>
                  <a:pt x="0" y="0"/>
                </a:moveTo>
                <a:lnTo>
                  <a:pt x="8326597" y="0"/>
                </a:lnTo>
                <a:lnTo>
                  <a:pt x="8326597" y="6035110"/>
                </a:lnTo>
                <a:lnTo>
                  <a:pt x="0" y="603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41887" y="-2615269"/>
            <a:ext cx="4450404" cy="4114800"/>
          </a:xfrm>
          <a:custGeom>
            <a:avLst/>
            <a:gdLst/>
            <a:ahLst/>
            <a:cxnLst/>
            <a:rect r="r" b="b" t="t" l="l"/>
            <a:pathLst>
              <a:path h="4114800" w="4450404">
                <a:moveTo>
                  <a:pt x="0" y="0"/>
                </a:moveTo>
                <a:lnTo>
                  <a:pt x="4450404" y="0"/>
                </a:lnTo>
                <a:lnTo>
                  <a:pt x="4450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9067" y="-2615269"/>
            <a:ext cx="6461098" cy="5073573"/>
          </a:xfrm>
          <a:custGeom>
            <a:avLst/>
            <a:gdLst/>
            <a:ahLst/>
            <a:cxnLst/>
            <a:rect r="r" b="b" t="t" l="l"/>
            <a:pathLst>
              <a:path h="5073573" w="6461098">
                <a:moveTo>
                  <a:pt x="0" y="0"/>
                </a:moveTo>
                <a:lnTo>
                  <a:pt x="6461097" y="0"/>
                </a:lnTo>
                <a:lnTo>
                  <a:pt x="6461097" y="5073573"/>
                </a:lnTo>
                <a:lnTo>
                  <a:pt x="0" y="5073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183411">
            <a:off x="14397759" y="-2070745"/>
            <a:ext cx="6039280" cy="5129798"/>
          </a:xfrm>
          <a:custGeom>
            <a:avLst/>
            <a:gdLst/>
            <a:ahLst/>
            <a:cxnLst/>
            <a:rect r="r" b="b" t="t" l="l"/>
            <a:pathLst>
              <a:path h="5129798" w="6039280">
                <a:moveTo>
                  <a:pt x="0" y="0"/>
                </a:moveTo>
                <a:lnTo>
                  <a:pt x="6039280" y="0"/>
                </a:lnTo>
                <a:lnTo>
                  <a:pt x="6039280" y="5129798"/>
                </a:lnTo>
                <a:lnTo>
                  <a:pt x="0" y="51297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79963" y="3437554"/>
            <a:ext cx="3753555" cy="4988113"/>
          </a:xfrm>
          <a:custGeom>
            <a:avLst/>
            <a:gdLst/>
            <a:ahLst/>
            <a:cxnLst/>
            <a:rect r="r" b="b" t="t" l="l"/>
            <a:pathLst>
              <a:path h="4988113" w="3753555">
                <a:moveTo>
                  <a:pt x="0" y="0"/>
                </a:moveTo>
                <a:lnTo>
                  <a:pt x="3753555" y="0"/>
                </a:lnTo>
                <a:lnTo>
                  <a:pt x="3753555" y="4988114"/>
                </a:lnTo>
                <a:lnTo>
                  <a:pt x="0" y="49881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63350" y="2937328"/>
            <a:ext cx="3552120" cy="4720425"/>
          </a:xfrm>
          <a:custGeom>
            <a:avLst/>
            <a:gdLst/>
            <a:ahLst/>
            <a:cxnLst/>
            <a:rect r="r" b="b" t="t" l="l"/>
            <a:pathLst>
              <a:path h="4720425" w="3552120">
                <a:moveTo>
                  <a:pt x="0" y="0"/>
                </a:moveTo>
                <a:lnTo>
                  <a:pt x="3552119" y="0"/>
                </a:lnTo>
                <a:lnTo>
                  <a:pt x="3552119" y="4720425"/>
                </a:lnTo>
                <a:lnTo>
                  <a:pt x="0" y="47204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414221" y="1574406"/>
            <a:ext cx="9459558" cy="105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63"/>
              </a:lnSpc>
            </a:pPr>
            <a:r>
              <a:rPr lang="en-US" b="true" sz="8365">
                <a:solidFill>
                  <a:srgbClr val="76473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INTRODUÇÃO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12108" y="7011467"/>
            <a:ext cx="5720775" cy="646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050189" y="2697332"/>
            <a:ext cx="6124071" cy="5728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A Luva MIDI por Mapeamento Gestual busca promover a inclusão de indivíduos com debilidades motoras e combina a expressão musical a movimentos baseados em exercícios fisioterapêuticos para a recuperação muscular e cognitiva.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16303" y="8862265"/>
            <a:ext cx="901096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sz="8000" b="true">
                <a:solidFill>
                  <a:srgbClr val="76473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36145">
            <a:off x="10257419" y="7741760"/>
            <a:ext cx="9301406" cy="4293331"/>
          </a:xfrm>
          <a:custGeom>
            <a:avLst/>
            <a:gdLst/>
            <a:ahLst/>
            <a:cxnLst/>
            <a:rect r="r" b="b" t="t" l="l"/>
            <a:pathLst>
              <a:path h="4293331" w="9301406">
                <a:moveTo>
                  <a:pt x="0" y="0"/>
                </a:moveTo>
                <a:lnTo>
                  <a:pt x="9301406" y="0"/>
                </a:lnTo>
                <a:lnTo>
                  <a:pt x="9301406" y="4293331"/>
                </a:lnTo>
                <a:lnTo>
                  <a:pt x="0" y="429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81730" y="5347673"/>
            <a:ext cx="8326598" cy="6035110"/>
          </a:xfrm>
          <a:custGeom>
            <a:avLst/>
            <a:gdLst/>
            <a:ahLst/>
            <a:cxnLst/>
            <a:rect r="r" b="b" t="t" l="l"/>
            <a:pathLst>
              <a:path h="6035110" w="8326598">
                <a:moveTo>
                  <a:pt x="0" y="0"/>
                </a:moveTo>
                <a:lnTo>
                  <a:pt x="8326597" y="0"/>
                </a:lnTo>
                <a:lnTo>
                  <a:pt x="8326597" y="6035110"/>
                </a:lnTo>
                <a:lnTo>
                  <a:pt x="0" y="603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41887" y="-2615269"/>
            <a:ext cx="4450404" cy="4114800"/>
          </a:xfrm>
          <a:custGeom>
            <a:avLst/>
            <a:gdLst/>
            <a:ahLst/>
            <a:cxnLst/>
            <a:rect r="r" b="b" t="t" l="l"/>
            <a:pathLst>
              <a:path h="4114800" w="4450404">
                <a:moveTo>
                  <a:pt x="0" y="0"/>
                </a:moveTo>
                <a:lnTo>
                  <a:pt x="4450404" y="0"/>
                </a:lnTo>
                <a:lnTo>
                  <a:pt x="4450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081730" y="-2909856"/>
            <a:ext cx="6461098" cy="5073573"/>
          </a:xfrm>
          <a:custGeom>
            <a:avLst/>
            <a:gdLst/>
            <a:ahLst/>
            <a:cxnLst/>
            <a:rect r="r" b="b" t="t" l="l"/>
            <a:pathLst>
              <a:path h="5073573" w="6461098">
                <a:moveTo>
                  <a:pt x="0" y="0"/>
                </a:moveTo>
                <a:lnTo>
                  <a:pt x="6461097" y="0"/>
                </a:lnTo>
                <a:lnTo>
                  <a:pt x="6461097" y="5073573"/>
                </a:lnTo>
                <a:lnTo>
                  <a:pt x="0" y="5073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183411">
            <a:off x="14397759" y="-2070745"/>
            <a:ext cx="6039280" cy="5129798"/>
          </a:xfrm>
          <a:custGeom>
            <a:avLst/>
            <a:gdLst/>
            <a:ahLst/>
            <a:cxnLst/>
            <a:rect r="r" b="b" t="t" l="l"/>
            <a:pathLst>
              <a:path h="5129798" w="6039280">
                <a:moveTo>
                  <a:pt x="0" y="0"/>
                </a:moveTo>
                <a:lnTo>
                  <a:pt x="6039280" y="0"/>
                </a:lnTo>
                <a:lnTo>
                  <a:pt x="6039280" y="5129798"/>
                </a:lnTo>
                <a:lnTo>
                  <a:pt x="0" y="51297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93952" y="2753376"/>
            <a:ext cx="6606744" cy="1593877"/>
          </a:xfrm>
          <a:custGeom>
            <a:avLst/>
            <a:gdLst/>
            <a:ahLst/>
            <a:cxnLst/>
            <a:rect r="r" b="b" t="t" l="l"/>
            <a:pathLst>
              <a:path h="1593877" w="6606744">
                <a:moveTo>
                  <a:pt x="0" y="0"/>
                </a:moveTo>
                <a:lnTo>
                  <a:pt x="6606744" y="0"/>
                </a:lnTo>
                <a:lnTo>
                  <a:pt x="6606744" y="1593877"/>
                </a:lnTo>
                <a:lnTo>
                  <a:pt x="0" y="159387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69461" y="5452448"/>
            <a:ext cx="7850310" cy="1805571"/>
          </a:xfrm>
          <a:custGeom>
            <a:avLst/>
            <a:gdLst/>
            <a:ahLst/>
            <a:cxnLst/>
            <a:rect r="r" b="b" t="t" l="l"/>
            <a:pathLst>
              <a:path h="1805571" w="7850310">
                <a:moveTo>
                  <a:pt x="0" y="0"/>
                </a:moveTo>
                <a:lnTo>
                  <a:pt x="7850310" y="0"/>
                </a:lnTo>
                <a:lnTo>
                  <a:pt x="7850310" y="1805571"/>
                </a:lnTo>
                <a:lnTo>
                  <a:pt x="0" y="18055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228663" y="1536570"/>
            <a:ext cx="8925167" cy="93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74"/>
              </a:lnSpc>
            </a:pPr>
            <a:r>
              <a:rPr lang="en-US" b="true" sz="7419">
                <a:solidFill>
                  <a:srgbClr val="76473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FUNCIONAMENTO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5443" y="2591451"/>
            <a:ext cx="5713224" cy="602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4624" indent="-412312" lvl="1">
              <a:lnSpc>
                <a:spcPts val="5347"/>
              </a:lnSpc>
              <a:buFont typeface="Arial"/>
              <a:buChar char="•"/>
            </a:pPr>
            <a:r>
              <a:rPr lang="en-US" sz="381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O pressionamento dos botões geram a nota natural (Dó, Ré, Mi, Fá, Sol, Lá e Si)</a:t>
            </a:r>
          </a:p>
          <a:p>
            <a:pPr algn="l" marL="824624" indent="-412312" lvl="1">
              <a:lnSpc>
                <a:spcPts val="5347"/>
              </a:lnSpc>
              <a:buFont typeface="Arial"/>
              <a:buChar char="•"/>
            </a:pPr>
            <a:r>
              <a:rPr lang="en-US" sz="381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A angulação do pulso gera uma mudança na oitava, ou seja, a nota gerada será mais aguda ou mais grave.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89369" y="4252003"/>
            <a:ext cx="2091095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i="true">
                <a:solidFill>
                  <a:srgbClr val="2F2E48"/>
                </a:solidFill>
                <a:latin typeface="Crimson Pro Italics"/>
                <a:ea typeface="Crimson Pro Italics"/>
                <a:cs typeface="Crimson Pro Italics"/>
                <a:sym typeface="Crimson Pro Italics"/>
              </a:rPr>
              <a:t>Mais grave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997877" y="4271053"/>
            <a:ext cx="2204398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i="true">
                <a:solidFill>
                  <a:srgbClr val="2F2E48"/>
                </a:solidFill>
                <a:latin typeface="Crimson Pro Italics"/>
                <a:ea typeface="Crimson Pro Italics"/>
                <a:cs typeface="Crimson Pro Italics"/>
                <a:sym typeface="Crimson Pro Italics"/>
              </a:rPr>
              <a:t>Mais agudo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79991" y="3134206"/>
            <a:ext cx="4135055" cy="4713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4737" indent="-412369" lvl="1">
              <a:lnSpc>
                <a:spcPts val="5347"/>
              </a:lnSpc>
              <a:buFont typeface="Arial"/>
              <a:buChar char="•"/>
            </a:pPr>
            <a:r>
              <a:rPr lang="en-US" sz="381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A movimentação linear da mão de uma lado para o outro produz o sustenido da nota que está sendo tocada.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11117" y="6933217"/>
            <a:ext cx="5998802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i="true">
                <a:solidFill>
                  <a:srgbClr val="2F2E48"/>
                </a:solidFill>
                <a:latin typeface="Crimson Pro Italics"/>
                <a:ea typeface="Crimson Pro Italics"/>
                <a:cs typeface="Crimson Pro Italics"/>
                <a:sym typeface="Crimson Pro Italics"/>
              </a:rPr>
              <a:t>Fluxograma do funcionamento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16303" y="8862265"/>
            <a:ext cx="901096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sz="8000" b="true">
                <a:solidFill>
                  <a:srgbClr val="76473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36145">
            <a:off x="9714779" y="8576591"/>
            <a:ext cx="9301406" cy="4293331"/>
          </a:xfrm>
          <a:custGeom>
            <a:avLst/>
            <a:gdLst/>
            <a:ahLst/>
            <a:cxnLst/>
            <a:rect r="r" b="b" t="t" l="l"/>
            <a:pathLst>
              <a:path h="4293331" w="9301406">
                <a:moveTo>
                  <a:pt x="0" y="0"/>
                </a:moveTo>
                <a:lnTo>
                  <a:pt x="9301406" y="0"/>
                </a:lnTo>
                <a:lnTo>
                  <a:pt x="9301406" y="4293330"/>
                </a:lnTo>
                <a:lnTo>
                  <a:pt x="0" y="4293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05813" y="5984271"/>
            <a:ext cx="8326598" cy="6035110"/>
          </a:xfrm>
          <a:custGeom>
            <a:avLst/>
            <a:gdLst/>
            <a:ahLst/>
            <a:cxnLst/>
            <a:rect r="r" b="b" t="t" l="l"/>
            <a:pathLst>
              <a:path h="6035110" w="8326598">
                <a:moveTo>
                  <a:pt x="0" y="0"/>
                </a:moveTo>
                <a:lnTo>
                  <a:pt x="8326597" y="0"/>
                </a:lnTo>
                <a:lnTo>
                  <a:pt x="8326597" y="6035110"/>
                </a:lnTo>
                <a:lnTo>
                  <a:pt x="0" y="603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41887" y="-3086100"/>
            <a:ext cx="4450404" cy="4114800"/>
          </a:xfrm>
          <a:custGeom>
            <a:avLst/>
            <a:gdLst/>
            <a:ahLst/>
            <a:cxnLst/>
            <a:rect r="r" b="b" t="t" l="l"/>
            <a:pathLst>
              <a:path h="4114800" w="4450404">
                <a:moveTo>
                  <a:pt x="0" y="0"/>
                </a:moveTo>
                <a:lnTo>
                  <a:pt x="4450404" y="0"/>
                </a:lnTo>
                <a:lnTo>
                  <a:pt x="4450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9067" y="-2615269"/>
            <a:ext cx="6461098" cy="5073573"/>
          </a:xfrm>
          <a:custGeom>
            <a:avLst/>
            <a:gdLst/>
            <a:ahLst/>
            <a:cxnLst/>
            <a:rect r="r" b="b" t="t" l="l"/>
            <a:pathLst>
              <a:path h="5073573" w="6461098">
                <a:moveTo>
                  <a:pt x="0" y="0"/>
                </a:moveTo>
                <a:lnTo>
                  <a:pt x="6461097" y="0"/>
                </a:lnTo>
                <a:lnTo>
                  <a:pt x="6461097" y="5073573"/>
                </a:lnTo>
                <a:lnTo>
                  <a:pt x="0" y="5073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183411">
            <a:off x="14397759" y="-2070745"/>
            <a:ext cx="6039280" cy="5129798"/>
          </a:xfrm>
          <a:custGeom>
            <a:avLst/>
            <a:gdLst/>
            <a:ahLst/>
            <a:cxnLst/>
            <a:rect r="r" b="b" t="t" l="l"/>
            <a:pathLst>
              <a:path h="5129798" w="6039280">
                <a:moveTo>
                  <a:pt x="0" y="0"/>
                </a:moveTo>
                <a:lnTo>
                  <a:pt x="6039280" y="0"/>
                </a:lnTo>
                <a:lnTo>
                  <a:pt x="6039280" y="5129798"/>
                </a:lnTo>
                <a:lnTo>
                  <a:pt x="0" y="51297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3676" y="2458304"/>
            <a:ext cx="7506209" cy="4616318"/>
          </a:xfrm>
          <a:custGeom>
            <a:avLst/>
            <a:gdLst/>
            <a:ahLst/>
            <a:cxnLst/>
            <a:rect r="r" b="b" t="t" l="l"/>
            <a:pathLst>
              <a:path h="4616318" w="7506209">
                <a:moveTo>
                  <a:pt x="0" y="0"/>
                </a:moveTo>
                <a:lnTo>
                  <a:pt x="7506209" y="0"/>
                </a:lnTo>
                <a:lnTo>
                  <a:pt x="7506209" y="4616319"/>
                </a:lnTo>
                <a:lnTo>
                  <a:pt x="0" y="46163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875517" y="2956967"/>
            <a:ext cx="4809293" cy="3618993"/>
          </a:xfrm>
          <a:custGeom>
            <a:avLst/>
            <a:gdLst/>
            <a:ahLst/>
            <a:cxnLst/>
            <a:rect r="r" b="b" t="t" l="l"/>
            <a:pathLst>
              <a:path h="3618993" w="4809293">
                <a:moveTo>
                  <a:pt x="0" y="0"/>
                </a:moveTo>
                <a:lnTo>
                  <a:pt x="4809293" y="0"/>
                </a:lnTo>
                <a:lnTo>
                  <a:pt x="4809293" y="3618993"/>
                </a:lnTo>
                <a:lnTo>
                  <a:pt x="0" y="36189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142010" y="2287618"/>
            <a:ext cx="3730663" cy="4957691"/>
          </a:xfrm>
          <a:custGeom>
            <a:avLst/>
            <a:gdLst/>
            <a:ahLst/>
            <a:cxnLst/>
            <a:rect r="r" b="b" t="t" l="l"/>
            <a:pathLst>
              <a:path h="4957691" w="3730663">
                <a:moveTo>
                  <a:pt x="0" y="0"/>
                </a:moveTo>
                <a:lnTo>
                  <a:pt x="3730662" y="0"/>
                </a:lnTo>
                <a:lnTo>
                  <a:pt x="3730662" y="4957691"/>
                </a:lnTo>
                <a:lnTo>
                  <a:pt x="0" y="495769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762030" y="1080608"/>
            <a:ext cx="9802081" cy="1187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2"/>
              </a:lnSpc>
            </a:pPr>
            <a:r>
              <a:rPr lang="en-US" b="true" sz="4800">
                <a:solidFill>
                  <a:srgbClr val="76473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DETALHAMENTO DO FUNCIONAMENTO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7632" y="7029782"/>
            <a:ext cx="3107064" cy="2169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8352" indent="-334176" lvl="1">
              <a:lnSpc>
                <a:spcPts val="4333"/>
              </a:lnSpc>
              <a:buFont typeface="Arial"/>
              <a:buChar char="•"/>
            </a:pPr>
            <a:r>
              <a:rPr lang="en-US" sz="3095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Dedo 1 - Dó</a:t>
            </a:r>
          </a:p>
          <a:p>
            <a:pPr algn="l" marL="668352" indent="-334176" lvl="1">
              <a:lnSpc>
                <a:spcPts val="4333"/>
              </a:lnSpc>
              <a:buFont typeface="Arial"/>
              <a:buChar char="•"/>
            </a:pPr>
            <a:r>
              <a:rPr lang="en-US" sz="3095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Dedo 2 - Ré</a:t>
            </a:r>
          </a:p>
          <a:p>
            <a:pPr algn="l" marL="668352" indent="-334176" lvl="1">
              <a:lnSpc>
                <a:spcPts val="4333"/>
              </a:lnSpc>
              <a:buFont typeface="Arial"/>
              <a:buChar char="•"/>
            </a:pPr>
            <a:r>
              <a:rPr lang="en-US" sz="3095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Dedo 3 - Mi</a:t>
            </a:r>
          </a:p>
          <a:p>
            <a:pPr algn="l" marL="668352" indent="-334176" lvl="1">
              <a:lnSpc>
                <a:spcPts val="4333"/>
              </a:lnSpc>
              <a:buFont typeface="Arial"/>
              <a:buChar char="•"/>
            </a:pPr>
            <a:r>
              <a:rPr lang="en-US" sz="3095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Dedo 4 - Fá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28150" y="7301244"/>
            <a:ext cx="4451919" cy="162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8352" indent="-334176" lvl="1">
              <a:lnSpc>
                <a:spcPts val="4333"/>
              </a:lnSpc>
              <a:buFont typeface="Arial"/>
              <a:buChar char="•"/>
            </a:pPr>
            <a:r>
              <a:rPr lang="en-US" sz="3095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Dedo 1  + Dedo 2 - Sol</a:t>
            </a:r>
          </a:p>
          <a:p>
            <a:pPr algn="l" marL="668352" indent="-334176" lvl="1">
              <a:lnSpc>
                <a:spcPts val="4333"/>
              </a:lnSpc>
              <a:buFont typeface="Arial"/>
              <a:buChar char="•"/>
            </a:pPr>
            <a:r>
              <a:rPr lang="en-US" sz="3095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Dedo 2 + Dedo 3 - Lá</a:t>
            </a:r>
          </a:p>
          <a:p>
            <a:pPr algn="l" marL="668352" indent="-334176" lvl="1">
              <a:lnSpc>
                <a:spcPts val="4333"/>
              </a:lnSpc>
              <a:buFont typeface="Arial"/>
              <a:buChar char="•"/>
            </a:pPr>
            <a:r>
              <a:rPr lang="en-US" sz="3095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Dedo 3 + Dedo 4 - Si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22248" y="6614364"/>
            <a:ext cx="3115831" cy="54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3"/>
              </a:lnSpc>
            </a:pPr>
            <a:r>
              <a:rPr lang="en-US" sz="3095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Mudança de oitava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65482" y="7193078"/>
            <a:ext cx="3810162" cy="54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3"/>
              </a:lnSpc>
            </a:pPr>
            <a:r>
              <a:rPr lang="en-US" sz="3095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Ativação do sustenido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16303" y="8862265"/>
            <a:ext cx="901096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sz="8000" b="true">
                <a:solidFill>
                  <a:srgbClr val="76473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36145">
            <a:off x="10257419" y="7741760"/>
            <a:ext cx="9301406" cy="4293331"/>
          </a:xfrm>
          <a:custGeom>
            <a:avLst/>
            <a:gdLst/>
            <a:ahLst/>
            <a:cxnLst/>
            <a:rect r="r" b="b" t="t" l="l"/>
            <a:pathLst>
              <a:path h="4293331" w="9301406">
                <a:moveTo>
                  <a:pt x="0" y="0"/>
                </a:moveTo>
                <a:lnTo>
                  <a:pt x="9301406" y="0"/>
                </a:lnTo>
                <a:lnTo>
                  <a:pt x="9301406" y="4293331"/>
                </a:lnTo>
                <a:lnTo>
                  <a:pt x="0" y="429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67574" y="5750516"/>
            <a:ext cx="8326598" cy="6035110"/>
          </a:xfrm>
          <a:custGeom>
            <a:avLst/>
            <a:gdLst/>
            <a:ahLst/>
            <a:cxnLst/>
            <a:rect r="r" b="b" t="t" l="l"/>
            <a:pathLst>
              <a:path h="6035110" w="8326598">
                <a:moveTo>
                  <a:pt x="0" y="0"/>
                </a:moveTo>
                <a:lnTo>
                  <a:pt x="8326598" y="0"/>
                </a:lnTo>
                <a:lnTo>
                  <a:pt x="8326598" y="6035109"/>
                </a:lnTo>
                <a:lnTo>
                  <a:pt x="0" y="60351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70604" y="-3598352"/>
            <a:ext cx="4450404" cy="4114800"/>
          </a:xfrm>
          <a:custGeom>
            <a:avLst/>
            <a:gdLst/>
            <a:ahLst/>
            <a:cxnLst/>
            <a:rect r="r" b="b" t="t" l="l"/>
            <a:pathLst>
              <a:path h="4114800" w="4450404">
                <a:moveTo>
                  <a:pt x="0" y="0"/>
                </a:moveTo>
                <a:lnTo>
                  <a:pt x="4450404" y="0"/>
                </a:lnTo>
                <a:lnTo>
                  <a:pt x="4450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201849" y="-3160560"/>
            <a:ext cx="6461098" cy="5073573"/>
          </a:xfrm>
          <a:custGeom>
            <a:avLst/>
            <a:gdLst/>
            <a:ahLst/>
            <a:cxnLst/>
            <a:rect r="r" b="b" t="t" l="l"/>
            <a:pathLst>
              <a:path h="5073573" w="6461098">
                <a:moveTo>
                  <a:pt x="0" y="0"/>
                </a:moveTo>
                <a:lnTo>
                  <a:pt x="6461098" y="0"/>
                </a:lnTo>
                <a:lnTo>
                  <a:pt x="6461098" y="5073574"/>
                </a:lnTo>
                <a:lnTo>
                  <a:pt x="0" y="50735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183411">
            <a:off x="14397759" y="-2564899"/>
            <a:ext cx="6039280" cy="5129798"/>
          </a:xfrm>
          <a:custGeom>
            <a:avLst/>
            <a:gdLst/>
            <a:ahLst/>
            <a:cxnLst/>
            <a:rect r="r" b="b" t="t" l="l"/>
            <a:pathLst>
              <a:path h="5129798" w="6039280">
                <a:moveTo>
                  <a:pt x="0" y="0"/>
                </a:moveTo>
                <a:lnTo>
                  <a:pt x="6039280" y="0"/>
                </a:lnTo>
                <a:lnTo>
                  <a:pt x="6039280" y="5129798"/>
                </a:lnTo>
                <a:lnTo>
                  <a:pt x="0" y="51297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45245" y="1484636"/>
            <a:ext cx="3502540" cy="4418992"/>
          </a:xfrm>
          <a:custGeom>
            <a:avLst/>
            <a:gdLst/>
            <a:ahLst/>
            <a:cxnLst/>
            <a:rect r="r" b="b" t="t" l="l"/>
            <a:pathLst>
              <a:path h="4418992" w="3502540">
                <a:moveTo>
                  <a:pt x="0" y="0"/>
                </a:moveTo>
                <a:lnTo>
                  <a:pt x="3502539" y="0"/>
                </a:lnTo>
                <a:lnTo>
                  <a:pt x="3502539" y="4418992"/>
                </a:lnTo>
                <a:lnTo>
                  <a:pt x="0" y="441899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6104" t="0" r="-610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523384" y="1913014"/>
            <a:ext cx="5410064" cy="3426047"/>
          </a:xfrm>
          <a:custGeom>
            <a:avLst/>
            <a:gdLst/>
            <a:ahLst/>
            <a:cxnLst/>
            <a:rect r="r" b="b" t="t" l="l"/>
            <a:pathLst>
              <a:path h="3426047" w="5410064">
                <a:moveTo>
                  <a:pt x="0" y="0"/>
                </a:moveTo>
                <a:lnTo>
                  <a:pt x="5410064" y="0"/>
                </a:lnTo>
                <a:lnTo>
                  <a:pt x="5410064" y="3426046"/>
                </a:lnTo>
                <a:lnTo>
                  <a:pt x="0" y="342604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3673" t="0" r="-551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522188" y="6332659"/>
            <a:ext cx="2728890" cy="2852034"/>
          </a:xfrm>
          <a:custGeom>
            <a:avLst/>
            <a:gdLst/>
            <a:ahLst/>
            <a:cxnLst/>
            <a:rect r="r" b="b" t="t" l="l"/>
            <a:pathLst>
              <a:path h="2852034" w="2728890">
                <a:moveTo>
                  <a:pt x="0" y="0"/>
                </a:moveTo>
                <a:lnTo>
                  <a:pt x="2728889" y="0"/>
                </a:lnTo>
                <a:lnTo>
                  <a:pt x="2728889" y="2852035"/>
                </a:lnTo>
                <a:lnTo>
                  <a:pt x="0" y="285203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692329" y="6421950"/>
            <a:ext cx="6217330" cy="2673452"/>
          </a:xfrm>
          <a:custGeom>
            <a:avLst/>
            <a:gdLst/>
            <a:ahLst/>
            <a:cxnLst/>
            <a:rect r="r" b="b" t="t" l="l"/>
            <a:pathLst>
              <a:path h="2673452" w="6217330">
                <a:moveTo>
                  <a:pt x="0" y="0"/>
                </a:moveTo>
                <a:lnTo>
                  <a:pt x="6217330" y="0"/>
                </a:lnTo>
                <a:lnTo>
                  <a:pt x="6217330" y="2673452"/>
                </a:lnTo>
                <a:lnTo>
                  <a:pt x="0" y="267345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49441" y="7008437"/>
            <a:ext cx="2860877" cy="50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5"/>
              </a:lnSpc>
            </a:pPr>
            <a:r>
              <a:rPr lang="en-US" sz="38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MPU 6050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18327" y="5403375"/>
            <a:ext cx="1820178" cy="50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5"/>
              </a:lnSpc>
            </a:pPr>
            <a:r>
              <a:rPr lang="en-US" sz="38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ESP32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59249" y="706948"/>
            <a:ext cx="8925167" cy="93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74"/>
              </a:lnSpc>
            </a:pPr>
            <a:r>
              <a:rPr lang="en-US" b="true" sz="7419">
                <a:solidFill>
                  <a:srgbClr val="76473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COMPONENTES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19234" y="2523573"/>
            <a:ext cx="2876406" cy="2426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33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Sensor que monitora a mudança na angulação, além da aceleração linear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05978" y="1979689"/>
            <a:ext cx="4871736" cy="420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2978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Microcontrolador responsável por processar o pressionamento dos botões, processar os inputs da movimentação (lidos pelo MPU)  e associá-los com as notas que serão tocadas na interface de áudio.</a:t>
            </a:r>
          </a:p>
          <a:p>
            <a:pPr algn="r">
              <a:lnSpc>
                <a:spcPts val="2799"/>
              </a:lnSpc>
            </a:pPr>
          </a:p>
          <a:p>
            <a:pPr algn="r">
              <a:lnSpc>
                <a:spcPts val="2799"/>
              </a:lnSpc>
            </a:pPr>
            <a:r>
              <a:rPr lang="en-US" sz="2978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Também é responsável pela conexão bluetooth com a interface de áudio (app no celular).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516303" y="8862265"/>
            <a:ext cx="901096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sz="8000" b="true">
                <a:solidFill>
                  <a:srgbClr val="76473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89512" y="9277350"/>
            <a:ext cx="6833872" cy="407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4"/>
              </a:lnSpc>
            </a:pPr>
            <a:r>
              <a:rPr lang="en-US" sz="3100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Aplicativo usado como interface de áudio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36145">
            <a:off x="10257419" y="7741760"/>
            <a:ext cx="9301406" cy="4293331"/>
          </a:xfrm>
          <a:custGeom>
            <a:avLst/>
            <a:gdLst/>
            <a:ahLst/>
            <a:cxnLst/>
            <a:rect r="r" b="b" t="t" l="l"/>
            <a:pathLst>
              <a:path h="4293331" w="9301406">
                <a:moveTo>
                  <a:pt x="0" y="0"/>
                </a:moveTo>
                <a:lnTo>
                  <a:pt x="9301406" y="0"/>
                </a:lnTo>
                <a:lnTo>
                  <a:pt x="9301406" y="4293331"/>
                </a:lnTo>
                <a:lnTo>
                  <a:pt x="0" y="429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28592" y="5143500"/>
            <a:ext cx="8326598" cy="6035110"/>
          </a:xfrm>
          <a:custGeom>
            <a:avLst/>
            <a:gdLst/>
            <a:ahLst/>
            <a:cxnLst/>
            <a:rect r="r" b="b" t="t" l="l"/>
            <a:pathLst>
              <a:path h="6035110" w="8326598">
                <a:moveTo>
                  <a:pt x="0" y="0"/>
                </a:moveTo>
                <a:lnTo>
                  <a:pt x="8326597" y="0"/>
                </a:lnTo>
                <a:lnTo>
                  <a:pt x="8326597" y="6035110"/>
                </a:lnTo>
                <a:lnTo>
                  <a:pt x="0" y="603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41887" y="-2615269"/>
            <a:ext cx="4450404" cy="4114800"/>
          </a:xfrm>
          <a:custGeom>
            <a:avLst/>
            <a:gdLst/>
            <a:ahLst/>
            <a:cxnLst/>
            <a:rect r="r" b="b" t="t" l="l"/>
            <a:pathLst>
              <a:path h="4114800" w="4450404">
                <a:moveTo>
                  <a:pt x="0" y="0"/>
                </a:moveTo>
                <a:lnTo>
                  <a:pt x="4450404" y="0"/>
                </a:lnTo>
                <a:lnTo>
                  <a:pt x="4450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9067" y="-2615269"/>
            <a:ext cx="6461098" cy="5073573"/>
          </a:xfrm>
          <a:custGeom>
            <a:avLst/>
            <a:gdLst/>
            <a:ahLst/>
            <a:cxnLst/>
            <a:rect r="r" b="b" t="t" l="l"/>
            <a:pathLst>
              <a:path h="5073573" w="6461098">
                <a:moveTo>
                  <a:pt x="0" y="0"/>
                </a:moveTo>
                <a:lnTo>
                  <a:pt x="6461097" y="0"/>
                </a:lnTo>
                <a:lnTo>
                  <a:pt x="6461097" y="5073573"/>
                </a:lnTo>
                <a:lnTo>
                  <a:pt x="0" y="5073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183411">
            <a:off x="14397759" y="-2070745"/>
            <a:ext cx="6039280" cy="5129798"/>
          </a:xfrm>
          <a:custGeom>
            <a:avLst/>
            <a:gdLst/>
            <a:ahLst/>
            <a:cxnLst/>
            <a:rect r="r" b="b" t="t" l="l"/>
            <a:pathLst>
              <a:path h="5129798" w="6039280">
                <a:moveTo>
                  <a:pt x="0" y="0"/>
                </a:moveTo>
                <a:lnTo>
                  <a:pt x="6039280" y="0"/>
                </a:lnTo>
                <a:lnTo>
                  <a:pt x="6039280" y="5129798"/>
                </a:lnTo>
                <a:lnTo>
                  <a:pt x="0" y="51297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1938" y="2855010"/>
            <a:ext cx="3785538" cy="3759669"/>
          </a:xfrm>
          <a:custGeom>
            <a:avLst/>
            <a:gdLst/>
            <a:ahLst/>
            <a:cxnLst/>
            <a:rect r="r" b="b" t="t" l="l"/>
            <a:pathLst>
              <a:path h="3759669" w="3785538">
                <a:moveTo>
                  <a:pt x="0" y="0"/>
                </a:moveTo>
                <a:lnTo>
                  <a:pt x="3785538" y="0"/>
                </a:lnTo>
                <a:lnTo>
                  <a:pt x="3785538" y="3759669"/>
                </a:lnTo>
                <a:lnTo>
                  <a:pt x="0" y="37596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662939" y="1499531"/>
            <a:ext cx="4885118" cy="6661524"/>
          </a:xfrm>
          <a:custGeom>
            <a:avLst/>
            <a:gdLst/>
            <a:ahLst/>
            <a:cxnLst/>
            <a:rect r="r" b="b" t="t" l="l"/>
            <a:pathLst>
              <a:path h="6661524" w="4885118">
                <a:moveTo>
                  <a:pt x="0" y="0"/>
                </a:moveTo>
                <a:lnTo>
                  <a:pt x="4885118" y="0"/>
                </a:lnTo>
                <a:lnTo>
                  <a:pt x="4885118" y="6661524"/>
                </a:lnTo>
                <a:lnTo>
                  <a:pt x="0" y="666152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179483" y="2855010"/>
            <a:ext cx="6521328" cy="3325877"/>
          </a:xfrm>
          <a:custGeom>
            <a:avLst/>
            <a:gdLst/>
            <a:ahLst/>
            <a:cxnLst/>
            <a:rect r="r" b="b" t="t" l="l"/>
            <a:pathLst>
              <a:path h="3325877" w="6521328">
                <a:moveTo>
                  <a:pt x="0" y="0"/>
                </a:moveTo>
                <a:lnTo>
                  <a:pt x="6521328" y="0"/>
                </a:lnTo>
                <a:lnTo>
                  <a:pt x="6521328" y="3325877"/>
                </a:lnTo>
                <a:lnTo>
                  <a:pt x="0" y="332587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-1191736" y="6715448"/>
            <a:ext cx="7534769" cy="50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5"/>
              </a:lnSpc>
            </a:pPr>
            <a:r>
              <a:rPr lang="en-US" sz="38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Push Button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38113" y="8246780"/>
            <a:ext cx="7534769" cy="50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5"/>
              </a:lnSpc>
            </a:pPr>
            <a:r>
              <a:rPr lang="en-US" sz="38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PCB (Placa universal) e fios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48057" y="6266612"/>
            <a:ext cx="7534769" cy="50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5"/>
              </a:lnSpc>
            </a:pPr>
            <a:r>
              <a:rPr lang="en-US" sz="38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Conector (suporte)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16303" y="8862265"/>
            <a:ext cx="901096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sz="8000" b="true">
                <a:solidFill>
                  <a:srgbClr val="76473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36145">
            <a:off x="10257419" y="7741760"/>
            <a:ext cx="9301406" cy="4293331"/>
          </a:xfrm>
          <a:custGeom>
            <a:avLst/>
            <a:gdLst/>
            <a:ahLst/>
            <a:cxnLst/>
            <a:rect r="r" b="b" t="t" l="l"/>
            <a:pathLst>
              <a:path h="4293331" w="9301406">
                <a:moveTo>
                  <a:pt x="0" y="0"/>
                </a:moveTo>
                <a:lnTo>
                  <a:pt x="9301406" y="0"/>
                </a:lnTo>
                <a:lnTo>
                  <a:pt x="9301406" y="4293331"/>
                </a:lnTo>
                <a:lnTo>
                  <a:pt x="0" y="429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28592" y="5143500"/>
            <a:ext cx="8326598" cy="6035110"/>
          </a:xfrm>
          <a:custGeom>
            <a:avLst/>
            <a:gdLst/>
            <a:ahLst/>
            <a:cxnLst/>
            <a:rect r="r" b="b" t="t" l="l"/>
            <a:pathLst>
              <a:path h="6035110" w="8326598">
                <a:moveTo>
                  <a:pt x="0" y="0"/>
                </a:moveTo>
                <a:lnTo>
                  <a:pt x="8326597" y="0"/>
                </a:lnTo>
                <a:lnTo>
                  <a:pt x="8326597" y="6035110"/>
                </a:lnTo>
                <a:lnTo>
                  <a:pt x="0" y="603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41887" y="-2615269"/>
            <a:ext cx="4450404" cy="4114800"/>
          </a:xfrm>
          <a:custGeom>
            <a:avLst/>
            <a:gdLst/>
            <a:ahLst/>
            <a:cxnLst/>
            <a:rect r="r" b="b" t="t" l="l"/>
            <a:pathLst>
              <a:path h="4114800" w="4450404">
                <a:moveTo>
                  <a:pt x="0" y="0"/>
                </a:moveTo>
                <a:lnTo>
                  <a:pt x="4450404" y="0"/>
                </a:lnTo>
                <a:lnTo>
                  <a:pt x="4450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9067" y="-2615269"/>
            <a:ext cx="6461098" cy="5073573"/>
          </a:xfrm>
          <a:custGeom>
            <a:avLst/>
            <a:gdLst/>
            <a:ahLst/>
            <a:cxnLst/>
            <a:rect r="r" b="b" t="t" l="l"/>
            <a:pathLst>
              <a:path h="5073573" w="6461098">
                <a:moveTo>
                  <a:pt x="0" y="0"/>
                </a:moveTo>
                <a:lnTo>
                  <a:pt x="6461097" y="0"/>
                </a:lnTo>
                <a:lnTo>
                  <a:pt x="6461097" y="5073573"/>
                </a:lnTo>
                <a:lnTo>
                  <a:pt x="0" y="5073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183411">
            <a:off x="14397759" y="-2070745"/>
            <a:ext cx="6039280" cy="5129798"/>
          </a:xfrm>
          <a:custGeom>
            <a:avLst/>
            <a:gdLst/>
            <a:ahLst/>
            <a:cxnLst/>
            <a:rect r="r" b="b" t="t" l="l"/>
            <a:pathLst>
              <a:path h="5129798" w="6039280">
                <a:moveTo>
                  <a:pt x="0" y="0"/>
                </a:moveTo>
                <a:lnTo>
                  <a:pt x="6039280" y="0"/>
                </a:lnTo>
                <a:lnTo>
                  <a:pt x="6039280" y="5129798"/>
                </a:lnTo>
                <a:lnTo>
                  <a:pt x="0" y="51297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95807" y="1731714"/>
            <a:ext cx="5342563" cy="6429341"/>
          </a:xfrm>
          <a:custGeom>
            <a:avLst/>
            <a:gdLst/>
            <a:ahLst/>
            <a:cxnLst/>
            <a:rect r="r" b="b" t="t" l="l"/>
            <a:pathLst>
              <a:path h="6429341" w="5342563">
                <a:moveTo>
                  <a:pt x="0" y="0"/>
                </a:moveTo>
                <a:lnTo>
                  <a:pt x="5342564" y="0"/>
                </a:lnTo>
                <a:lnTo>
                  <a:pt x="5342564" y="6429341"/>
                </a:lnTo>
                <a:lnTo>
                  <a:pt x="0" y="64293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799705" y="8246780"/>
            <a:ext cx="7534769" cy="50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5"/>
              </a:lnSpc>
            </a:pPr>
            <a:r>
              <a:rPr lang="en-US" sz="38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Bateria de 9V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16303" y="8862265"/>
            <a:ext cx="901096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sz="8000" b="true">
                <a:solidFill>
                  <a:srgbClr val="76473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36145">
            <a:off x="10257419" y="7741760"/>
            <a:ext cx="9301406" cy="4293331"/>
          </a:xfrm>
          <a:custGeom>
            <a:avLst/>
            <a:gdLst/>
            <a:ahLst/>
            <a:cxnLst/>
            <a:rect r="r" b="b" t="t" l="l"/>
            <a:pathLst>
              <a:path h="4293331" w="9301406">
                <a:moveTo>
                  <a:pt x="0" y="0"/>
                </a:moveTo>
                <a:lnTo>
                  <a:pt x="9301406" y="0"/>
                </a:lnTo>
                <a:lnTo>
                  <a:pt x="9301406" y="4293331"/>
                </a:lnTo>
                <a:lnTo>
                  <a:pt x="0" y="429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28592" y="5143500"/>
            <a:ext cx="8326598" cy="6035110"/>
          </a:xfrm>
          <a:custGeom>
            <a:avLst/>
            <a:gdLst/>
            <a:ahLst/>
            <a:cxnLst/>
            <a:rect r="r" b="b" t="t" l="l"/>
            <a:pathLst>
              <a:path h="6035110" w="8326598">
                <a:moveTo>
                  <a:pt x="0" y="0"/>
                </a:moveTo>
                <a:lnTo>
                  <a:pt x="8326597" y="0"/>
                </a:lnTo>
                <a:lnTo>
                  <a:pt x="8326597" y="6035110"/>
                </a:lnTo>
                <a:lnTo>
                  <a:pt x="0" y="603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41887" y="-2615269"/>
            <a:ext cx="4450404" cy="4114800"/>
          </a:xfrm>
          <a:custGeom>
            <a:avLst/>
            <a:gdLst/>
            <a:ahLst/>
            <a:cxnLst/>
            <a:rect r="r" b="b" t="t" l="l"/>
            <a:pathLst>
              <a:path h="4114800" w="4450404">
                <a:moveTo>
                  <a:pt x="0" y="0"/>
                </a:moveTo>
                <a:lnTo>
                  <a:pt x="4450404" y="0"/>
                </a:lnTo>
                <a:lnTo>
                  <a:pt x="4450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9067" y="-2615269"/>
            <a:ext cx="6461098" cy="5073573"/>
          </a:xfrm>
          <a:custGeom>
            <a:avLst/>
            <a:gdLst/>
            <a:ahLst/>
            <a:cxnLst/>
            <a:rect r="r" b="b" t="t" l="l"/>
            <a:pathLst>
              <a:path h="5073573" w="6461098">
                <a:moveTo>
                  <a:pt x="0" y="0"/>
                </a:moveTo>
                <a:lnTo>
                  <a:pt x="6461097" y="0"/>
                </a:lnTo>
                <a:lnTo>
                  <a:pt x="6461097" y="5073573"/>
                </a:lnTo>
                <a:lnTo>
                  <a:pt x="0" y="5073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183411">
            <a:off x="14397759" y="-2070745"/>
            <a:ext cx="6039280" cy="5129798"/>
          </a:xfrm>
          <a:custGeom>
            <a:avLst/>
            <a:gdLst/>
            <a:ahLst/>
            <a:cxnLst/>
            <a:rect r="r" b="b" t="t" l="l"/>
            <a:pathLst>
              <a:path h="5129798" w="6039280">
                <a:moveTo>
                  <a:pt x="0" y="0"/>
                </a:moveTo>
                <a:lnTo>
                  <a:pt x="6039280" y="0"/>
                </a:lnTo>
                <a:lnTo>
                  <a:pt x="6039280" y="5129798"/>
                </a:lnTo>
                <a:lnTo>
                  <a:pt x="0" y="51297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99382" y="2458304"/>
            <a:ext cx="8735414" cy="7179371"/>
          </a:xfrm>
          <a:custGeom>
            <a:avLst/>
            <a:gdLst/>
            <a:ahLst/>
            <a:cxnLst/>
            <a:rect r="r" b="b" t="t" l="l"/>
            <a:pathLst>
              <a:path h="7179371" w="8735414">
                <a:moveTo>
                  <a:pt x="0" y="0"/>
                </a:moveTo>
                <a:lnTo>
                  <a:pt x="8735414" y="0"/>
                </a:lnTo>
                <a:lnTo>
                  <a:pt x="8735414" y="7179371"/>
                </a:lnTo>
                <a:lnTo>
                  <a:pt x="0" y="717937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516303" y="8862265"/>
            <a:ext cx="901096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sz="8000" b="true">
                <a:solidFill>
                  <a:srgbClr val="76473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04505" y="960060"/>
            <a:ext cx="8925167" cy="93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74"/>
              </a:lnSpc>
            </a:pPr>
            <a:r>
              <a:rPr lang="en-US" b="true" sz="7419">
                <a:solidFill>
                  <a:srgbClr val="76473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CIRCUITO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36145">
            <a:off x="10257419" y="7741760"/>
            <a:ext cx="9301406" cy="4293331"/>
          </a:xfrm>
          <a:custGeom>
            <a:avLst/>
            <a:gdLst/>
            <a:ahLst/>
            <a:cxnLst/>
            <a:rect r="r" b="b" t="t" l="l"/>
            <a:pathLst>
              <a:path h="4293331" w="9301406">
                <a:moveTo>
                  <a:pt x="0" y="0"/>
                </a:moveTo>
                <a:lnTo>
                  <a:pt x="9301406" y="0"/>
                </a:lnTo>
                <a:lnTo>
                  <a:pt x="9301406" y="4293331"/>
                </a:lnTo>
                <a:lnTo>
                  <a:pt x="0" y="429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28592" y="5143500"/>
            <a:ext cx="8326598" cy="6035110"/>
          </a:xfrm>
          <a:custGeom>
            <a:avLst/>
            <a:gdLst/>
            <a:ahLst/>
            <a:cxnLst/>
            <a:rect r="r" b="b" t="t" l="l"/>
            <a:pathLst>
              <a:path h="6035110" w="8326598">
                <a:moveTo>
                  <a:pt x="0" y="0"/>
                </a:moveTo>
                <a:lnTo>
                  <a:pt x="8326597" y="0"/>
                </a:lnTo>
                <a:lnTo>
                  <a:pt x="8326597" y="6035110"/>
                </a:lnTo>
                <a:lnTo>
                  <a:pt x="0" y="603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41887" y="-2615269"/>
            <a:ext cx="4450404" cy="4114800"/>
          </a:xfrm>
          <a:custGeom>
            <a:avLst/>
            <a:gdLst/>
            <a:ahLst/>
            <a:cxnLst/>
            <a:rect r="r" b="b" t="t" l="l"/>
            <a:pathLst>
              <a:path h="4114800" w="4450404">
                <a:moveTo>
                  <a:pt x="0" y="0"/>
                </a:moveTo>
                <a:lnTo>
                  <a:pt x="4450404" y="0"/>
                </a:lnTo>
                <a:lnTo>
                  <a:pt x="4450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9067" y="-2615269"/>
            <a:ext cx="6461098" cy="5073573"/>
          </a:xfrm>
          <a:custGeom>
            <a:avLst/>
            <a:gdLst/>
            <a:ahLst/>
            <a:cxnLst/>
            <a:rect r="r" b="b" t="t" l="l"/>
            <a:pathLst>
              <a:path h="5073573" w="6461098">
                <a:moveTo>
                  <a:pt x="0" y="0"/>
                </a:moveTo>
                <a:lnTo>
                  <a:pt x="6461097" y="0"/>
                </a:lnTo>
                <a:lnTo>
                  <a:pt x="6461097" y="5073573"/>
                </a:lnTo>
                <a:lnTo>
                  <a:pt x="0" y="5073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183411">
            <a:off x="14397759" y="-2070745"/>
            <a:ext cx="6039280" cy="5129798"/>
          </a:xfrm>
          <a:custGeom>
            <a:avLst/>
            <a:gdLst/>
            <a:ahLst/>
            <a:cxnLst/>
            <a:rect r="r" b="b" t="t" l="l"/>
            <a:pathLst>
              <a:path h="5129798" w="6039280">
                <a:moveTo>
                  <a:pt x="0" y="0"/>
                </a:moveTo>
                <a:lnTo>
                  <a:pt x="6039280" y="0"/>
                </a:lnTo>
                <a:lnTo>
                  <a:pt x="6039280" y="5129798"/>
                </a:lnTo>
                <a:lnTo>
                  <a:pt x="0" y="51297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24555" y="2852950"/>
            <a:ext cx="7685068" cy="5818694"/>
          </a:xfrm>
          <a:custGeom>
            <a:avLst/>
            <a:gdLst/>
            <a:ahLst/>
            <a:cxnLst/>
            <a:rect r="r" b="b" t="t" l="l"/>
            <a:pathLst>
              <a:path h="5818694" w="7685068">
                <a:moveTo>
                  <a:pt x="0" y="0"/>
                </a:moveTo>
                <a:lnTo>
                  <a:pt x="7685068" y="0"/>
                </a:lnTo>
                <a:lnTo>
                  <a:pt x="7685068" y="5818695"/>
                </a:lnTo>
                <a:lnTo>
                  <a:pt x="0" y="58186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09243" y="1560740"/>
            <a:ext cx="8715692" cy="1292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b="true" sz="10053">
                <a:solidFill>
                  <a:srgbClr val="76473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ORÇAMENTO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16303" y="8862265"/>
            <a:ext cx="901096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sz="8000" b="true">
                <a:solidFill>
                  <a:srgbClr val="76473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36145">
            <a:off x="10257419" y="7741760"/>
            <a:ext cx="9301406" cy="4293331"/>
          </a:xfrm>
          <a:custGeom>
            <a:avLst/>
            <a:gdLst/>
            <a:ahLst/>
            <a:cxnLst/>
            <a:rect r="r" b="b" t="t" l="l"/>
            <a:pathLst>
              <a:path h="4293331" w="9301406">
                <a:moveTo>
                  <a:pt x="0" y="0"/>
                </a:moveTo>
                <a:lnTo>
                  <a:pt x="9301406" y="0"/>
                </a:lnTo>
                <a:lnTo>
                  <a:pt x="9301406" y="4293331"/>
                </a:lnTo>
                <a:lnTo>
                  <a:pt x="0" y="429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28592" y="5143500"/>
            <a:ext cx="8326598" cy="6035110"/>
          </a:xfrm>
          <a:custGeom>
            <a:avLst/>
            <a:gdLst/>
            <a:ahLst/>
            <a:cxnLst/>
            <a:rect r="r" b="b" t="t" l="l"/>
            <a:pathLst>
              <a:path h="6035110" w="8326598">
                <a:moveTo>
                  <a:pt x="0" y="0"/>
                </a:moveTo>
                <a:lnTo>
                  <a:pt x="8326597" y="0"/>
                </a:lnTo>
                <a:lnTo>
                  <a:pt x="8326597" y="6035110"/>
                </a:lnTo>
                <a:lnTo>
                  <a:pt x="0" y="603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41887" y="-2615269"/>
            <a:ext cx="4450404" cy="4114800"/>
          </a:xfrm>
          <a:custGeom>
            <a:avLst/>
            <a:gdLst/>
            <a:ahLst/>
            <a:cxnLst/>
            <a:rect r="r" b="b" t="t" l="l"/>
            <a:pathLst>
              <a:path h="4114800" w="4450404">
                <a:moveTo>
                  <a:pt x="0" y="0"/>
                </a:moveTo>
                <a:lnTo>
                  <a:pt x="4450404" y="0"/>
                </a:lnTo>
                <a:lnTo>
                  <a:pt x="4450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9067" y="-2615269"/>
            <a:ext cx="6461098" cy="5073573"/>
          </a:xfrm>
          <a:custGeom>
            <a:avLst/>
            <a:gdLst/>
            <a:ahLst/>
            <a:cxnLst/>
            <a:rect r="r" b="b" t="t" l="l"/>
            <a:pathLst>
              <a:path h="5073573" w="6461098">
                <a:moveTo>
                  <a:pt x="0" y="0"/>
                </a:moveTo>
                <a:lnTo>
                  <a:pt x="6461097" y="0"/>
                </a:lnTo>
                <a:lnTo>
                  <a:pt x="6461097" y="5073573"/>
                </a:lnTo>
                <a:lnTo>
                  <a:pt x="0" y="5073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183411">
            <a:off x="14397759" y="-2070745"/>
            <a:ext cx="6039280" cy="5129798"/>
          </a:xfrm>
          <a:custGeom>
            <a:avLst/>
            <a:gdLst/>
            <a:ahLst/>
            <a:cxnLst/>
            <a:rect r="r" b="b" t="t" l="l"/>
            <a:pathLst>
              <a:path h="5129798" w="6039280">
                <a:moveTo>
                  <a:pt x="0" y="0"/>
                </a:moveTo>
                <a:lnTo>
                  <a:pt x="6039280" y="0"/>
                </a:lnTo>
                <a:lnTo>
                  <a:pt x="6039280" y="5129798"/>
                </a:lnTo>
                <a:lnTo>
                  <a:pt x="0" y="51297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245954" y="3618491"/>
            <a:ext cx="11796092" cy="5053274"/>
          </a:xfrm>
          <a:custGeom>
            <a:avLst/>
            <a:gdLst/>
            <a:ahLst/>
            <a:cxnLst/>
            <a:rect r="r" b="b" t="t" l="l"/>
            <a:pathLst>
              <a:path h="5053274" w="11796092">
                <a:moveTo>
                  <a:pt x="0" y="0"/>
                </a:moveTo>
                <a:lnTo>
                  <a:pt x="11796092" y="0"/>
                </a:lnTo>
                <a:lnTo>
                  <a:pt x="11796092" y="5053274"/>
                </a:lnTo>
                <a:lnTo>
                  <a:pt x="0" y="50532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04505" y="960060"/>
            <a:ext cx="8925167" cy="180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74"/>
              </a:lnSpc>
            </a:pPr>
            <a:r>
              <a:rPr lang="en-US" b="true" sz="7419">
                <a:solidFill>
                  <a:srgbClr val="76473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TRABALHOS RELACIONADOS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16303" y="8862265"/>
            <a:ext cx="1112890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sz="8000" b="true">
                <a:solidFill>
                  <a:srgbClr val="76473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36145">
            <a:off x="10257419" y="7741760"/>
            <a:ext cx="9301406" cy="4293331"/>
          </a:xfrm>
          <a:custGeom>
            <a:avLst/>
            <a:gdLst/>
            <a:ahLst/>
            <a:cxnLst/>
            <a:rect r="r" b="b" t="t" l="l"/>
            <a:pathLst>
              <a:path h="4293331" w="9301406">
                <a:moveTo>
                  <a:pt x="0" y="0"/>
                </a:moveTo>
                <a:lnTo>
                  <a:pt x="9301406" y="0"/>
                </a:lnTo>
                <a:lnTo>
                  <a:pt x="9301406" y="4293331"/>
                </a:lnTo>
                <a:lnTo>
                  <a:pt x="0" y="429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28592" y="5143500"/>
            <a:ext cx="8326598" cy="6035110"/>
          </a:xfrm>
          <a:custGeom>
            <a:avLst/>
            <a:gdLst/>
            <a:ahLst/>
            <a:cxnLst/>
            <a:rect r="r" b="b" t="t" l="l"/>
            <a:pathLst>
              <a:path h="6035110" w="8326598">
                <a:moveTo>
                  <a:pt x="0" y="0"/>
                </a:moveTo>
                <a:lnTo>
                  <a:pt x="8326597" y="0"/>
                </a:lnTo>
                <a:lnTo>
                  <a:pt x="8326597" y="6035110"/>
                </a:lnTo>
                <a:lnTo>
                  <a:pt x="0" y="603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41887" y="-2615269"/>
            <a:ext cx="4450404" cy="4114800"/>
          </a:xfrm>
          <a:custGeom>
            <a:avLst/>
            <a:gdLst/>
            <a:ahLst/>
            <a:cxnLst/>
            <a:rect r="r" b="b" t="t" l="l"/>
            <a:pathLst>
              <a:path h="4114800" w="4450404">
                <a:moveTo>
                  <a:pt x="0" y="0"/>
                </a:moveTo>
                <a:lnTo>
                  <a:pt x="4450404" y="0"/>
                </a:lnTo>
                <a:lnTo>
                  <a:pt x="4450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9067" y="-2615269"/>
            <a:ext cx="6461098" cy="5073573"/>
          </a:xfrm>
          <a:custGeom>
            <a:avLst/>
            <a:gdLst/>
            <a:ahLst/>
            <a:cxnLst/>
            <a:rect r="r" b="b" t="t" l="l"/>
            <a:pathLst>
              <a:path h="5073573" w="6461098">
                <a:moveTo>
                  <a:pt x="0" y="0"/>
                </a:moveTo>
                <a:lnTo>
                  <a:pt x="6461097" y="0"/>
                </a:lnTo>
                <a:lnTo>
                  <a:pt x="6461097" y="5073573"/>
                </a:lnTo>
                <a:lnTo>
                  <a:pt x="0" y="5073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183411">
            <a:off x="14397759" y="-2070745"/>
            <a:ext cx="6039280" cy="5129798"/>
          </a:xfrm>
          <a:custGeom>
            <a:avLst/>
            <a:gdLst/>
            <a:ahLst/>
            <a:cxnLst/>
            <a:rect r="r" b="b" t="t" l="l"/>
            <a:pathLst>
              <a:path h="5129798" w="6039280">
                <a:moveTo>
                  <a:pt x="0" y="0"/>
                </a:moveTo>
                <a:lnTo>
                  <a:pt x="6039280" y="0"/>
                </a:lnTo>
                <a:lnTo>
                  <a:pt x="6039280" y="5129798"/>
                </a:lnTo>
                <a:lnTo>
                  <a:pt x="0" y="51297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91460" y="2386224"/>
            <a:ext cx="8785463" cy="7301023"/>
          </a:xfrm>
          <a:custGeom>
            <a:avLst/>
            <a:gdLst/>
            <a:ahLst/>
            <a:cxnLst/>
            <a:rect r="r" b="b" t="t" l="l"/>
            <a:pathLst>
              <a:path h="7301023" w="8785463">
                <a:moveTo>
                  <a:pt x="0" y="0"/>
                </a:moveTo>
                <a:lnTo>
                  <a:pt x="8785464" y="0"/>
                </a:lnTo>
                <a:lnTo>
                  <a:pt x="8785464" y="7301023"/>
                </a:lnTo>
                <a:lnTo>
                  <a:pt x="0" y="73010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04505" y="960060"/>
            <a:ext cx="8925167" cy="93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74"/>
              </a:lnSpc>
            </a:pPr>
            <a:r>
              <a:rPr lang="en-US" b="true" sz="7419">
                <a:solidFill>
                  <a:srgbClr val="76473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RESULTADOS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29449" y="2544029"/>
            <a:ext cx="4132517" cy="303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3"/>
              </a:lnSpc>
            </a:pPr>
            <a:r>
              <a:rPr lang="en-US" sz="35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Gráfico de espectro de frequência, usado para comparar a frequência identificada nas notas do teste e da referência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16303" y="8862265"/>
            <a:ext cx="1112890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sz="8000" b="true">
                <a:solidFill>
                  <a:srgbClr val="76473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36145">
            <a:off x="10257419" y="7741760"/>
            <a:ext cx="9301406" cy="4293331"/>
          </a:xfrm>
          <a:custGeom>
            <a:avLst/>
            <a:gdLst/>
            <a:ahLst/>
            <a:cxnLst/>
            <a:rect r="r" b="b" t="t" l="l"/>
            <a:pathLst>
              <a:path h="4293331" w="9301406">
                <a:moveTo>
                  <a:pt x="0" y="0"/>
                </a:moveTo>
                <a:lnTo>
                  <a:pt x="9301406" y="0"/>
                </a:lnTo>
                <a:lnTo>
                  <a:pt x="9301406" y="4293331"/>
                </a:lnTo>
                <a:lnTo>
                  <a:pt x="0" y="429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28592" y="5143500"/>
            <a:ext cx="8326598" cy="6035110"/>
          </a:xfrm>
          <a:custGeom>
            <a:avLst/>
            <a:gdLst/>
            <a:ahLst/>
            <a:cxnLst/>
            <a:rect r="r" b="b" t="t" l="l"/>
            <a:pathLst>
              <a:path h="6035110" w="8326598">
                <a:moveTo>
                  <a:pt x="0" y="0"/>
                </a:moveTo>
                <a:lnTo>
                  <a:pt x="8326597" y="0"/>
                </a:lnTo>
                <a:lnTo>
                  <a:pt x="8326597" y="6035110"/>
                </a:lnTo>
                <a:lnTo>
                  <a:pt x="0" y="603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41887" y="-2615269"/>
            <a:ext cx="4450404" cy="4114800"/>
          </a:xfrm>
          <a:custGeom>
            <a:avLst/>
            <a:gdLst/>
            <a:ahLst/>
            <a:cxnLst/>
            <a:rect r="r" b="b" t="t" l="l"/>
            <a:pathLst>
              <a:path h="4114800" w="4450404">
                <a:moveTo>
                  <a:pt x="0" y="0"/>
                </a:moveTo>
                <a:lnTo>
                  <a:pt x="4450404" y="0"/>
                </a:lnTo>
                <a:lnTo>
                  <a:pt x="4450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9067" y="-2615269"/>
            <a:ext cx="6461098" cy="5073573"/>
          </a:xfrm>
          <a:custGeom>
            <a:avLst/>
            <a:gdLst/>
            <a:ahLst/>
            <a:cxnLst/>
            <a:rect r="r" b="b" t="t" l="l"/>
            <a:pathLst>
              <a:path h="5073573" w="6461098">
                <a:moveTo>
                  <a:pt x="0" y="0"/>
                </a:moveTo>
                <a:lnTo>
                  <a:pt x="6461097" y="0"/>
                </a:lnTo>
                <a:lnTo>
                  <a:pt x="6461097" y="5073573"/>
                </a:lnTo>
                <a:lnTo>
                  <a:pt x="0" y="5073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183411">
            <a:off x="14397759" y="-2070745"/>
            <a:ext cx="6039280" cy="5129798"/>
          </a:xfrm>
          <a:custGeom>
            <a:avLst/>
            <a:gdLst/>
            <a:ahLst/>
            <a:cxnLst/>
            <a:rect r="r" b="b" t="t" l="l"/>
            <a:pathLst>
              <a:path h="5129798" w="6039280">
                <a:moveTo>
                  <a:pt x="0" y="0"/>
                </a:moveTo>
                <a:lnTo>
                  <a:pt x="6039280" y="0"/>
                </a:lnTo>
                <a:lnTo>
                  <a:pt x="6039280" y="5129798"/>
                </a:lnTo>
                <a:lnTo>
                  <a:pt x="0" y="51297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99681" y="2161824"/>
            <a:ext cx="5684242" cy="7726602"/>
          </a:xfrm>
          <a:custGeom>
            <a:avLst/>
            <a:gdLst/>
            <a:ahLst/>
            <a:cxnLst/>
            <a:rect r="r" b="b" t="t" l="l"/>
            <a:pathLst>
              <a:path h="7726602" w="5684242">
                <a:moveTo>
                  <a:pt x="0" y="0"/>
                </a:moveTo>
                <a:lnTo>
                  <a:pt x="5684242" y="0"/>
                </a:lnTo>
                <a:lnTo>
                  <a:pt x="5684242" y="7726602"/>
                </a:lnTo>
                <a:lnTo>
                  <a:pt x="0" y="77266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-3484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04505" y="960060"/>
            <a:ext cx="8925167" cy="93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74"/>
              </a:lnSpc>
            </a:pPr>
            <a:r>
              <a:rPr lang="en-US" b="true" sz="7419">
                <a:solidFill>
                  <a:srgbClr val="76473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RESULTADOS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26033" y="3634613"/>
            <a:ext cx="4132517" cy="303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3"/>
              </a:lnSpc>
            </a:pPr>
            <a:r>
              <a:rPr lang="en-US" sz="35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Tabela com o resultado da análise do gráfico de espectro de frequência de cada uma das notas (tanto da referência quanto do primeiro teste)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16303" y="8862265"/>
            <a:ext cx="1112890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sz="8000" b="true">
                <a:solidFill>
                  <a:srgbClr val="76473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36145">
            <a:off x="10257419" y="7741760"/>
            <a:ext cx="9301406" cy="4293331"/>
          </a:xfrm>
          <a:custGeom>
            <a:avLst/>
            <a:gdLst/>
            <a:ahLst/>
            <a:cxnLst/>
            <a:rect r="r" b="b" t="t" l="l"/>
            <a:pathLst>
              <a:path h="4293331" w="9301406">
                <a:moveTo>
                  <a:pt x="0" y="0"/>
                </a:moveTo>
                <a:lnTo>
                  <a:pt x="9301406" y="0"/>
                </a:lnTo>
                <a:lnTo>
                  <a:pt x="9301406" y="4293331"/>
                </a:lnTo>
                <a:lnTo>
                  <a:pt x="0" y="429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28592" y="5143500"/>
            <a:ext cx="8326598" cy="6035110"/>
          </a:xfrm>
          <a:custGeom>
            <a:avLst/>
            <a:gdLst/>
            <a:ahLst/>
            <a:cxnLst/>
            <a:rect r="r" b="b" t="t" l="l"/>
            <a:pathLst>
              <a:path h="6035110" w="8326598">
                <a:moveTo>
                  <a:pt x="0" y="0"/>
                </a:moveTo>
                <a:lnTo>
                  <a:pt x="8326597" y="0"/>
                </a:lnTo>
                <a:lnTo>
                  <a:pt x="8326597" y="6035110"/>
                </a:lnTo>
                <a:lnTo>
                  <a:pt x="0" y="603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41887" y="-2615269"/>
            <a:ext cx="4450404" cy="4114800"/>
          </a:xfrm>
          <a:custGeom>
            <a:avLst/>
            <a:gdLst/>
            <a:ahLst/>
            <a:cxnLst/>
            <a:rect r="r" b="b" t="t" l="l"/>
            <a:pathLst>
              <a:path h="4114800" w="4450404">
                <a:moveTo>
                  <a:pt x="0" y="0"/>
                </a:moveTo>
                <a:lnTo>
                  <a:pt x="4450404" y="0"/>
                </a:lnTo>
                <a:lnTo>
                  <a:pt x="4450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9067" y="-2615269"/>
            <a:ext cx="6461098" cy="5073573"/>
          </a:xfrm>
          <a:custGeom>
            <a:avLst/>
            <a:gdLst/>
            <a:ahLst/>
            <a:cxnLst/>
            <a:rect r="r" b="b" t="t" l="l"/>
            <a:pathLst>
              <a:path h="5073573" w="6461098">
                <a:moveTo>
                  <a:pt x="0" y="0"/>
                </a:moveTo>
                <a:lnTo>
                  <a:pt x="6461097" y="0"/>
                </a:lnTo>
                <a:lnTo>
                  <a:pt x="6461097" y="5073573"/>
                </a:lnTo>
                <a:lnTo>
                  <a:pt x="0" y="5073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183411">
            <a:off x="14397759" y="-2070745"/>
            <a:ext cx="6039280" cy="5129798"/>
          </a:xfrm>
          <a:custGeom>
            <a:avLst/>
            <a:gdLst/>
            <a:ahLst/>
            <a:cxnLst/>
            <a:rect r="r" b="b" t="t" l="l"/>
            <a:pathLst>
              <a:path h="5129798" w="6039280">
                <a:moveTo>
                  <a:pt x="0" y="0"/>
                </a:moveTo>
                <a:lnTo>
                  <a:pt x="6039280" y="0"/>
                </a:lnTo>
                <a:lnTo>
                  <a:pt x="6039280" y="5129798"/>
                </a:lnTo>
                <a:lnTo>
                  <a:pt x="0" y="51297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13606" y="3753781"/>
            <a:ext cx="14306966" cy="2276108"/>
          </a:xfrm>
          <a:custGeom>
            <a:avLst/>
            <a:gdLst/>
            <a:ahLst/>
            <a:cxnLst/>
            <a:rect r="r" b="b" t="t" l="l"/>
            <a:pathLst>
              <a:path h="2276108" w="14306966">
                <a:moveTo>
                  <a:pt x="0" y="0"/>
                </a:moveTo>
                <a:lnTo>
                  <a:pt x="14306966" y="0"/>
                </a:lnTo>
                <a:lnTo>
                  <a:pt x="14306966" y="2276109"/>
                </a:lnTo>
                <a:lnTo>
                  <a:pt x="0" y="227610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37518" y="6582340"/>
            <a:ext cx="14659142" cy="2089425"/>
          </a:xfrm>
          <a:custGeom>
            <a:avLst/>
            <a:gdLst/>
            <a:ahLst/>
            <a:cxnLst/>
            <a:rect r="r" b="b" t="t" l="l"/>
            <a:pathLst>
              <a:path h="2089425" w="14659142">
                <a:moveTo>
                  <a:pt x="0" y="0"/>
                </a:moveTo>
                <a:lnTo>
                  <a:pt x="14659142" y="0"/>
                </a:lnTo>
                <a:lnTo>
                  <a:pt x="14659142" y="2089425"/>
                </a:lnTo>
                <a:lnTo>
                  <a:pt x="0" y="20894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04505" y="960060"/>
            <a:ext cx="8925167" cy="93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74"/>
              </a:lnSpc>
            </a:pPr>
            <a:r>
              <a:rPr lang="en-US" b="true" sz="7419">
                <a:solidFill>
                  <a:srgbClr val="76473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RESULTADOS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16303" y="8862265"/>
            <a:ext cx="1112890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sz="8000" b="true">
                <a:solidFill>
                  <a:srgbClr val="76473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13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07077" y="2544029"/>
            <a:ext cx="11156272" cy="47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7"/>
              </a:lnSpc>
            </a:pPr>
            <a:r>
              <a:rPr lang="en-US" sz="36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Faixas de cada som para comparar o tempo de cada nota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36145">
            <a:off x="10257419" y="7741760"/>
            <a:ext cx="9301406" cy="4293331"/>
          </a:xfrm>
          <a:custGeom>
            <a:avLst/>
            <a:gdLst/>
            <a:ahLst/>
            <a:cxnLst/>
            <a:rect r="r" b="b" t="t" l="l"/>
            <a:pathLst>
              <a:path h="4293331" w="9301406">
                <a:moveTo>
                  <a:pt x="0" y="0"/>
                </a:moveTo>
                <a:lnTo>
                  <a:pt x="9301406" y="0"/>
                </a:lnTo>
                <a:lnTo>
                  <a:pt x="9301406" y="4293331"/>
                </a:lnTo>
                <a:lnTo>
                  <a:pt x="0" y="429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28592" y="5143500"/>
            <a:ext cx="8326598" cy="6035110"/>
          </a:xfrm>
          <a:custGeom>
            <a:avLst/>
            <a:gdLst/>
            <a:ahLst/>
            <a:cxnLst/>
            <a:rect r="r" b="b" t="t" l="l"/>
            <a:pathLst>
              <a:path h="6035110" w="8326598">
                <a:moveTo>
                  <a:pt x="0" y="0"/>
                </a:moveTo>
                <a:lnTo>
                  <a:pt x="8326597" y="0"/>
                </a:lnTo>
                <a:lnTo>
                  <a:pt x="8326597" y="6035110"/>
                </a:lnTo>
                <a:lnTo>
                  <a:pt x="0" y="603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41887" y="-2615269"/>
            <a:ext cx="4450404" cy="4114800"/>
          </a:xfrm>
          <a:custGeom>
            <a:avLst/>
            <a:gdLst/>
            <a:ahLst/>
            <a:cxnLst/>
            <a:rect r="r" b="b" t="t" l="l"/>
            <a:pathLst>
              <a:path h="4114800" w="4450404">
                <a:moveTo>
                  <a:pt x="0" y="0"/>
                </a:moveTo>
                <a:lnTo>
                  <a:pt x="4450404" y="0"/>
                </a:lnTo>
                <a:lnTo>
                  <a:pt x="4450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9067" y="-2615269"/>
            <a:ext cx="6461098" cy="5073573"/>
          </a:xfrm>
          <a:custGeom>
            <a:avLst/>
            <a:gdLst/>
            <a:ahLst/>
            <a:cxnLst/>
            <a:rect r="r" b="b" t="t" l="l"/>
            <a:pathLst>
              <a:path h="5073573" w="6461098">
                <a:moveTo>
                  <a:pt x="0" y="0"/>
                </a:moveTo>
                <a:lnTo>
                  <a:pt x="6461097" y="0"/>
                </a:lnTo>
                <a:lnTo>
                  <a:pt x="6461097" y="5073573"/>
                </a:lnTo>
                <a:lnTo>
                  <a:pt x="0" y="5073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183411">
            <a:off x="14397759" y="-2070745"/>
            <a:ext cx="6039280" cy="5129798"/>
          </a:xfrm>
          <a:custGeom>
            <a:avLst/>
            <a:gdLst/>
            <a:ahLst/>
            <a:cxnLst/>
            <a:rect r="r" b="b" t="t" l="l"/>
            <a:pathLst>
              <a:path h="5129798" w="6039280">
                <a:moveTo>
                  <a:pt x="0" y="0"/>
                </a:moveTo>
                <a:lnTo>
                  <a:pt x="6039280" y="0"/>
                </a:lnTo>
                <a:lnTo>
                  <a:pt x="6039280" y="5129798"/>
                </a:lnTo>
                <a:lnTo>
                  <a:pt x="0" y="51297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44242" y="4006307"/>
            <a:ext cx="14845694" cy="1850025"/>
          </a:xfrm>
          <a:custGeom>
            <a:avLst/>
            <a:gdLst/>
            <a:ahLst/>
            <a:cxnLst/>
            <a:rect r="r" b="b" t="t" l="l"/>
            <a:pathLst>
              <a:path h="1850025" w="14845694">
                <a:moveTo>
                  <a:pt x="0" y="0"/>
                </a:moveTo>
                <a:lnTo>
                  <a:pt x="14845694" y="0"/>
                </a:lnTo>
                <a:lnTo>
                  <a:pt x="14845694" y="1850025"/>
                </a:lnTo>
                <a:lnTo>
                  <a:pt x="0" y="1850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144242" y="6540859"/>
            <a:ext cx="14845694" cy="1780913"/>
          </a:xfrm>
          <a:custGeom>
            <a:avLst/>
            <a:gdLst/>
            <a:ahLst/>
            <a:cxnLst/>
            <a:rect r="r" b="b" t="t" l="l"/>
            <a:pathLst>
              <a:path h="1780913" w="14845694">
                <a:moveTo>
                  <a:pt x="0" y="0"/>
                </a:moveTo>
                <a:lnTo>
                  <a:pt x="14845694" y="0"/>
                </a:lnTo>
                <a:lnTo>
                  <a:pt x="14845694" y="1780913"/>
                </a:lnTo>
                <a:lnTo>
                  <a:pt x="0" y="17809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04505" y="960060"/>
            <a:ext cx="8925167" cy="93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74"/>
              </a:lnSpc>
            </a:pPr>
            <a:r>
              <a:rPr lang="en-US" b="true" sz="7419">
                <a:solidFill>
                  <a:srgbClr val="76473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RESULTADOS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16303" y="8862265"/>
            <a:ext cx="1112890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sz="8000" b="true">
                <a:solidFill>
                  <a:srgbClr val="76473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14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07077" y="2544029"/>
            <a:ext cx="11156272" cy="46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3"/>
              </a:lnSpc>
            </a:pPr>
            <a:r>
              <a:rPr lang="en-US" sz="35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Faixas de som da referência mais lenta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36145">
            <a:off x="10257419" y="7741760"/>
            <a:ext cx="9301406" cy="4293331"/>
          </a:xfrm>
          <a:custGeom>
            <a:avLst/>
            <a:gdLst/>
            <a:ahLst/>
            <a:cxnLst/>
            <a:rect r="r" b="b" t="t" l="l"/>
            <a:pathLst>
              <a:path h="4293331" w="9301406">
                <a:moveTo>
                  <a:pt x="0" y="0"/>
                </a:moveTo>
                <a:lnTo>
                  <a:pt x="9301406" y="0"/>
                </a:lnTo>
                <a:lnTo>
                  <a:pt x="9301406" y="4293331"/>
                </a:lnTo>
                <a:lnTo>
                  <a:pt x="0" y="429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2558" y="2775308"/>
            <a:ext cx="7612518" cy="4654220"/>
          </a:xfrm>
          <a:custGeom>
            <a:avLst/>
            <a:gdLst/>
            <a:ahLst/>
            <a:cxnLst/>
            <a:rect r="r" b="b" t="t" l="l"/>
            <a:pathLst>
              <a:path h="4654220" w="7612518">
                <a:moveTo>
                  <a:pt x="0" y="0"/>
                </a:moveTo>
                <a:lnTo>
                  <a:pt x="7612519" y="0"/>
                </a:lnTo>
                <a:lnTo>
                  <a:pt x="7612519" y="4654219"/>
                </a:lnTo>
                <a:lnTo>
                  <a:pt x="0" y="46542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41007" y="7597417"/>
            <a:ext cx="7612518" cy="890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3"/>
              </a:lnSpc>
            </a:pPr>
            <a:r>
              <a:rPr lang="en-US" sz="35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Gráfico com as variações do tempo para cada nota da primeira referência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1699067" y="5143500"/>
            <a:ext cx="8326598" cy="6035110"/>
          </a:xfrm>
          <a:custGeom>
            <a:avLst/>
            <a:gdLst/>
            <a:ahLst/>
            <a:cxnLst/>
            <a:rect r="r" b="b" t="t" l="l"/>
            <a:pathLst>
              <a:path h="6035110" w="8326598">
                <a:moveTo>
                  <a:pt x="0" y="0"/>
                </a:moveTo>
                <a:lnTo>
                  <a:pt x="8326597" y="0"/>
                </a:lnTo>
                <a:lnTo>
                  <a:pt x="8326597" y="6035110"/>
                </a:lnTo>
                <a:lnTo>
                  <a:pt x="0" y="6035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41887" y="-2615269"/>
            <a:ext cx="4450404" cy="4114800"/>
          </a:xfrm>
          <a:custGeom>
            <a:avLst/>
            <a:gdLst/>
            <a:ahLst/>
            <a:cxnLst/>
            <a:rect r="r" b="b" t="t" l="l"/>
            <a:pathLst>
              <a:path h="4114800" w="4450404">
                <a:moveTo>
                  <a:pt x="0" y="0"/>
                </a:moveTo>
                <a:lnTo>
                  <a:pt x="4450404" y="0"/>
                </a:lnTo>
                <a:lnTo>
                  <a:pt x="4450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699067" y="-2615269"/>
            <a:ext cx="6461098" cy="5073573"/>
          </a:xfrm>
          <a:custGeom>
            <a:avLst/>
            <a:gdLst/>
            <a:ahLst/>
            <a:cxnLst/>
            <a:rect r="r" b="b" t="t" l="l"/>
            <a:pathLst>
              <a:path h="5073573" w="6461098">
                <a:moveTo>
                  <a:pt x="0" y="0"/>
                </a:moveTo>
                <a:lnTo>
                  <a:pt x="6461097" y="0"/>
                </a:lnTo>
                <a:lnTo>
                  <a:pt x="6461097" y="5073573"/>
                </a:lnTo>
                <a:lnTo>
                  <a:pt x="0" y="50735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183411">
            <a:off x="14397759" y="-2070745"/>
            <a:ext cx="6039280" cy="5129798"/>
          </a:xfrm>
          <a:custGeom>
            <a:avLst/>
            <a:gdLst/>
            <a:ahLst/>
            <a:cxnLst/>
            <a:rect r="r" b="b" t="t" l="l"/>
            <a:pathLst>
              <a:path h="5129798" w="6039280">
                <a:moveTo>
                  <a:pt x="0" y="0"/>
                </a:moveTo>
                <a:lnTo>
                  <a:pt x="6039280" y="0"/>
                </a:lnTo>
                <a:lnTo>
                  <a:pt x="6039280" y="5129798"/>
                </a:lnTo>
                <a:lnTo>
                  <a:pt x="0" y="51297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42923" y="2775308"/>
            <a:ext cx="7612518" cy="4736385"/>
          </a:xfrm>
          <a:custGeom>
            <a:avLst/>
            <a:gdLst/>
            <a:ahLst/>
            <a:cxnLst/>
            <a:rect r="r" b="b" t="t" l="l"/>
            <a:pathLst>
              <a:path h="4736385" w="7612518">
                <a:moveTo>
                  <a:pt x="0" y="0"/>
                </a:moveTo>
                <a:lnTo>
                  <a:pt x="7612519" y="0"/>
                </a:lnTo>
                <a:lnTo>
                  <a:pt x="7612519" y="4736384"/>
                </a:lnTo>
                <a:lnTo>
                  <a:pt x="0" y="4736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104505" y="960060"/>
            <a:ext cx="8925167" cy="93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74"/>
              </a:lnSpc>
            </a:pPr>
            <a:r>
              <a:rPr lang="en-US" b="true" sz="7419">
                <a:solidFill>
                  <a:srgbClr val="76473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RESULTADOS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16303" y="8862265"/>
            <a:ext cx="1112890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sz="8000" b="true">
                <a:solidFill>
                  <a:srgbClr val="76473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15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42923" y="7597417"/>
            <a:ext cx="7612518" cy="890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3"/>
              </a:lnSpc>
            </a:pPr>
            <a:r>
              <a:rPr lang="en-US" sz="35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Gráfico com as variações do tempo para cada nota da segunda referência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36145">
            <a:off x="10257419" y="7741760"/>
            <a:ext cx="9301406" cy="4293331"/>
          </a:xfrm>
          <a:custGeom>
            <a:avLst/>
            <a:gdLst/>
            <a:ahLst/>
            <a:cxnLst/>
            <a:rect r="r" b="b" t="t" l="l"/>
            <a:pathLst>
              <a:path h="4293331" w="9301406">
                <a:moveTo>
                  <a:pt x="0" y="0"/>
                </a:moveTo>
                <a:lnTo>
                  <a:pt x="9301406" y="0"/>
                </a:lnTo>
                <a:lnTo>
                  <a:pt x="9301406" y="4293331"/>
                </a:lnTo>
                <a:lnTo>
                  <a:pt x="0" y="429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28592" y="5143500"/>
            <a:ext cx="8326598" cy="6035110"/>
          </a:xfrm>
          <a:custGeom>
            <a:avLst/>
            <a:gdLst/>
            <a:ahLst/>
            <a:cxnLst/>
            <a:rect r="r" b="b" t="t" l="l"/>
            <a:pathLst>
              <a:path h="6035110" w="8326598">
                <a:moveTo>
                  <a:pt x="0" y="0"/>
                </a:moveTo>
                <a:lnTo>
                  <a:pt x="8326597" y="0"/>
                </a:lnTo>
                <a:lnTo>
                  <a:pt x="8326597" y="6035110"/>
                </a:lnTo>
                <a:lnTo>
                  <a:pt x="0" y="603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77793" y="-2898095"/>
            <a:ext cx="4450404" cy="4114800"/>
          </a:xfrm>
          <a:custGeom>
            <a:avLst/>
            <a:gdLst/>
            <a:ahLst/>
            <a:cxnLst/>
            <a:rect r="r" b="b" t="t" l="l"/>
            <a:pathLst>
              <a:path h="4114800" w="4450404">
                <a:moveTo>
                  <a:pt x="0" y="0"/>
                </a:moveTo>
                <a:lnTo>
                  <a:pt x="4450405" y="0"/>
                </a:lnTo>
                <a:lnTo>
                  <a:pt x="44504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9067" y="-2615269"/>
            <a:ext cx="6461098" cy="5073573"/>
          </a:xfrm>
          <a:custGeom>
            <a:avLst/>
            <a:gdLst/>
            <a:ahLst/>
            <a:cxnLst/>
            <a:rect r="r" b="b" t="t" l="l"/>
            <a:pathLst>
              <a:path h="5073573" w="6461098">
                <a:moveTo>
                  <a:pt x="0" y="0"/>
                </a:moveTo>
                <a:lnTo>
                  <a:pt x="6461097" y="0"/>
                </a:lnTo>
                <a:lnTo>
                  <a:pt x="6461097" y="5073573"/>
                </a:lnTo>
                <a:lnTo>
                  <a:pt x="0" y="5073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183411">
            <a:off x="14397759" y="-2070745"/>
            <a:ext cx="6039280" cy="5129798"/>
          </a:xfrm>
          <a:custGeom>
            <a:avLst/>
            <a:gdLst/>
            <a:ahLst/>
            <a:cxnLst/>
            <a:rect r="r" b="b" t="t" l="l"/>
            <a:pathLst>
              <a:path h="5129798" w="6039280">
                <a:moveTo>
                  <a:pt x="0" y="0"/>
                </a:moveTo>
                <a:lnTo>
                  <a:pt x="6039280" y="0"/>
                </a:lnTo>
                <a:lnTo>
                  <a:pt x="6039280" y="5129798"/>
                </a:lnTo>
                <a:lnTo>
                  <a:pt x="0" y="51297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93708" y="1454830"/>
            <a:ext cx="11300584" cy="1292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b="true" sz="10053">
                <a:solidFill>
                  <a:srgbClr val="76473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CONCLUSÃO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78302" y="3156616"/>
            <a:ext cx="12939079" cy="4427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3195"/>
              </a:lnSpc>
              <a:buFont typeface="Arial"/>
              <a:buChar char="•"/>
            </a:pPr>
            <a:r>
              <a:rPr lang="en-US" sz="33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A luva performa satisfatoriamente quanto à produção de </a:t>
            </a:r>
            <a:r>
              <a:rPr lang="en-US" sz="33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algumas notas básicas e seus sustenidos em diferentes oitavas.</a:t>
            </a:r>
          </a:p>
          <a:p>
            <a:pPr algn="l">
              <a:lnSpc>
                <a:spcPts val="3195"/>
              </a:lnSpc>
            </a:pPr>
          </a:p>
          <a:p>
            <a:pPr algn="l" marL="734059" indent="-367030" lvl="1">
              <a:lnSpc>
                <a:spcPts val="3195"/>
              </a:lnSpc>
              <a:buFont typeface="Arial"/>
              <a:buChar char="•"/>
            </a:pPr>
            <a:r>
              <a:rPr lang="en-US" sz="33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O pro</a:t>
            </a:r>
            <a:r>
              <a:rPr lang="en-US" sz="33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jeto mostrou um bom acompanhamento de músi</a:t>
            </a:r>
            <a:r>
              <a:rPr lang="en-US" sz="33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cas mais lentas, o que não ocorre em velocidades maiores.</a:t>
            </a:r>
          </a:p>
          <a:p>
            <a:pPr algn="l" marL="734059" indent="-367030" lvl="1">
              <a:lnSpc>
                <a:spcPts val="3195"/>
              </a:lnSpc>
              <a:buFont typeface="Arial"/>
              <a:buChar char="•"/>
            </a:pPr>
            <a:r>
              <a:rPr lang="en-US" sz="33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O </a:t>
            </a:r>
            <a:r>
              <a:rPr lang="en-US" sz="33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funcionamento da luva é um pouco </a:t>
            </a:r>
            <a:r>
              <a:rPr lang="en-US" sz="33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limitado, devido à sua manipulação, não sendo capaz de executar qualquer música, como o pretendido na proposta deste projeto.</a:t>
            </a:r>
          </a:p>
          <a:p>
            <a:pPr algn="l" marL="734059" indent="-367030" lvl="1">
              <a:lnSpc>
                <a:spcPts val="3195"/>
              </a:lnSpc>
              <a:buFont typeface="Arial"/>
              <a:buChar char="•"/>
            </a:pPr>
            <a:r>
              <a:rPr lang="en-US" sz="33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Apesar de tudo, o</a:t>
            </a:r>
            <a:r>
              <a:rPr lang="en-US" sz="33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 </a:t>
            </a:r>
            <a:r>
              <a:rPr lang="en-US" sz="33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trabalho cumpre com seu proposito de </a:t>
            </a:r>
            <a:r>
              <a:rPr lang="en-US" sz="33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democratização da expressão musical para pessoas com alguma debilidade motora ou impedimento financeiro.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34707" y="7990621"/>
            <a:ext cx="11153078" cy="42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3399">
                <a:solidFill>
                  <a:srgbClr val="764737"/>
                </a:solidFill>
                <a:latin typeface="Crimson Pro"/>
                <a:ea typeface="Crimson Pro"/>
                <a:cs typeface="Crimson Pro"/>
                <a:sym typeface="Crimson Pro"/>
              </a:rPr>
              <a:t>Link para o vídeo no YouTube:  </a:t>
            </a:r>
            <a:r>
              <a:rPr lang="en-US" sz="3399">
                <a:solidFill>
                  <a:srgbClr val="35B8FF"/>
                </a:solidFill>
                <a:latin typeface="Crimson Pro"/>
                <a:ea typeface="Crimson Pro"/>
                <a:cs typeface="Crimson Pro"/>
                <a:sym typeface="Crimson Pro"/>
              </a:rPr>
              <a:t>https://youtu.be/snMSb20gnNo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16303" y="8862265"/>
            <a:ext cx="1112890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sz="8000" b="true">
                <a:solidFill>
                  <a:srgbClr val="764737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DAG61noiL5s</dc:identifier>
  <dcterms:modified xsi:type="dcterms:W3CDTF">2011-08-01T06:04:30Z</dcterms:modified>
  <cp:revision>1</cp:revision>
  <dc:title>Oficina de Integração</dc:title>
</cp:coreProperties>
</file>